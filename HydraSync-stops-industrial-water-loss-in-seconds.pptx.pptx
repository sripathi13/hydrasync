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Canva Sans Bold" charset="1" panose="020B0803030501040103"/>
      <p:regular r:id="rId20"/>
    </p:embeddedFont>
    <p:embeddedFont>
      <p:font typeface="Barlow" charset="1" panose="00000500000000000000"/>
      <p:regular r:id="rId21"/>
    </p:embeddedFont>
    <p:embeddedFont>
      <p:font typeface="Exo 2" charset="1" panose="00000000000000000000"/>
      <p:regular r:id="rId22"/>
    </p:embeddedFont>
    <p:embeddedFont>
      <p:font typeface="Michroma" charset="1" panose="00000000000000000000"/>
      <p:regular r:id="rId23"/>
    </p:embeddedFont>
    <p:embeddedFont>
      <p:font typeface="Barlow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HydraSync is built around one operational promise: detect industrial water leaks in seconds, then turn the signal into an action. The product targets a costly blind spot with a compact, real-time system.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financial problem is not a dramatic single event. It is a leak that looks like normal production variance and remains invisible for months.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HydraSync does not stop at an anomaly score. It combines signals, understands production context, localizes the pipe section, and quantifies the financial impact.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architecture is intentionally compact. It is real-time today, deployable across cloud or on-premise environments, and leaves a clear path to horizontal scaling.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product moment: a normal reading changes, the system recognizes that the variance is not production, identifies Section B, and gives the operator a cost and confidence level in under five seconds.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dashboard is designed as an operations instrument. The operator gets location, severity, cost, trend evidence, and the next action without navigating across separate tools.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model starts with a 100 gal/min continuous leak, converts it into daily, monthly, and yearly cost, then compares that loss with a $5,000 one-time system cost.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Trust comes from measurable behavior. The prototype caught 10 out of 10 test leaks, responded in under five seconds, and reached 92% average confidence. The remaining checklist defines the product bar.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scale path is staged. HydraSync starts with one facility and a live dashboard, adds operational integrations, then expands into predictive maintenance and multi-facility network management.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on the operating and financial case: the problem is measurable, the answer is fast and localized, and the deployment path is immediate. The invitation is to build the future of water intelligence together.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7982" y="6126022"/>
            <a:ext cx="2402119" cy="47511"/>
            <a:chOff x="0" y="0"/>
            <a:chExt cx="3202826" cy="633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2813" cy="63247"/>
            </a:xfrm>
            <a:custGeom>
              <a:avLst/>
              <a:gdLst/>
              <a:ahLst/>
              <a:cxnLst/>
              <a:rect r="r" b="b" t="t" l="l"/>
              <a:pathLst>
                <a:path h="63247" w="3202813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3171190" y="0"/>
                  </a:lnTo>
                  <a:cubicBezTo>
                    <a:pt x="3188716" y="0"/>
                    <a:pt x="3202813" y="14224"/>
                    <a:pt x="3202813" y="31623"/>
                  </a:cubicBezTo>
                  <a:cubicBezTo>
                    <a:pt x="3202813" y="49149"/>
                    <a:pt x="3188589" y="63246"/>
                    <a:pt x="3171190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91163" y="0"/>
            <a:ext cx="6710677" cy="10295039"/>
            <a:chOff x="0" y="0"/>
            <a:chExt cx="8947569" cy="137267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4753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8947531">
                  <a:moveTo>
                    <a:pt x="0" y="0"/>
                  </a:moveTo>
                  <a:lnTo>
                    <a:pt x="8947531" y="0"/>
                  </a:lnTo>
                  <a:lnTo>
                    <a:pt x="894753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5050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591163" y="0"/>
            <a:ext cx="3355334" cy="10295039"/>
            <a:chOff x="0" y="0"/>
            <a:chExt cx="4473778" cy="137267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7382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4473829">
                  <a:moveTo>
                    <a:pt x="0" y="0"/>
                  </a:moveTo>
                  <a:lnTo>
                    <a:pt x="4473829" y="0"/>
                  </a:lnTo>
                  <a:lnTo>
                    <a:pt x="447382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946506" y="0"/>
            <a:ext cx="3355334" cy="10295039"/>
            <a:chOff x="0" y="0"/>
            <a:chExt cx="4473778" cy="137267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7382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4473829">
                  <a:moveTo>
                    <a:pt x="0" y="0"/>
                  </a:moveTo>
                  <a:lnTo>
                    <a:pt x="4473829" y="0"/>
                  </a:lnTo>
                  <a:lnTo>
                    <a:pt x="447382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184637" y="7698048"/>
            <a:ext cx="19069" cy="2043522"/>
            <a:chOff x="0" y="0"/>
            <a:chExt cx="25425" cy="27246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00" cy="2724658"/>
            </a:xfrm>
            <a:custGeom>
              <a:avLst/>
              <a:gdLst/>
              <a:ahLst/>
              <a:cxnLst/>
              <a:rect r="r" b="b" t="t" l="l"/>
              <a:pathLst>
                <a:path h="2724658" w="25400">
                  <a:moveTo>
                    <a:pt x="0" y="0"/>
                  </a:moveTo>
                  <a:lnTo>
                    <a:pt x="25400" y="0"/>
                  </a:lnTo>
                  <a:lnTo>
                    <a:pt x="25400" y="2724658"/>
                  </a:lnTo>
                  <a:lnTo>
                    <a:pt x="0" y="2724658"/>
                  </a:ln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387466" y="7698048"/>
            <a:ext cx="19069" cy="2043522"/>
            <a:chOff x="0" y="0"/>
            <a:chExt cx="25425" cy="27246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00" cy="2724658"/>
            </a:xfrm>
            <a:custGeom>
              <a:avLst/>
              <a:gdLst/>
              <a:ahLst/>
              <a:cxnLst/>
              <a:rect r="r" b="b" t="t" l="l"/>
              <a:pathLst>
                <a:path h="2724658" w="25400">
                  <a:moveTo>
                    <a:pt x="0" y="0"/>
                  </a:moveTo>
                  <a:lnTo>
                    <a:pt x="25400" y="0"/>
                  </a:lnTo>
                  <a:lnTo>
                    <a:pt x="25400" y="2724658"/>
                  </a:lnTo>
                  <a:lnTo>
                    <a:pt x="0" y="2724658"/>
                  </a:lnTo>
                  <a:close/>
                </a:path>
              </a:pathLst>
            </a:custGeom>
            <a:solidFill>
              <a:srgbClr val="3F3F3F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2191464" y="1921284"/>
            <a:ext cx="5487925" cy="5776764"/>
          </a:xfrm>
          <a:custGeom>
            <a:avLst/>
            <a:gdLst/>
            <a:ahLst/>
            <a:cxnLst/>
            <a:rect r="r" b="b" t="t" l="l"/>
            <a:pathLst>
              <a:path h="5776764" w="5487925">
                <a:moveTo>
                  <a:pt x="0" y="0"/>
                </a:moveTo>
                <a:lnTo>
                  <a:pt x="5487925" y="0"/>
                </a:lnTo>
                <a:lnTo>
                  <a:pt x="5487925" y="5776764"/>
                </a:lnTo>
                <a:lnTo>
                  <a:pt x="0" y="57767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19774" y="6655786"/>
            <a:ext cx="3202819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PROMISE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65750" y="6655786"/>
            <a:ext cx="2859662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IMPACT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7982" y="2259812"/>
            <a:ext cx="10687207" cy="1611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b="true" sz="10000" spc="1600">
                <a:solidFill>
                  <a:srgbClr val="D5D5D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HYDRASYNC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7982" y="5315744"/>
            <a:ext cx="9608468" cy="51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D5D5D5"/>
                </a:solidFill>
                <a:latin typeface="Barlow"/>
                <a:ea typeface="Barlow"/>
                <a:cs typeface="Barlow"/>
                <a:sym typeface="Barlow"/>
              </a:rPr>
              <a:t>Real-time industrial water leak detection.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7982" y="7301598"/>
            <a:ext cx="2859662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Detecting leaks in seconds.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65750" y="7301598"/>
            <a:ext cx="2516505" cy="126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Saving $17,000+ annually per facility.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14169" y="6655786"/>
            <a:ext cx="2859662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BUILD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14169" y="7244401"/>
            <a:ext cx="2859662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24-hour build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4598" y="3804759"/>
            <a:ext cx="9812088" cy="60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7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Reduce Water Loss In Seconds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62581" y="495719"/>
            <a:ext cx="11438649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THE COST OF WAITING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581" y="982694"/>
            <a:ext cx="10752334" cy="137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5254" spc="-63">
                <a:solidFill>
                  <a:srgbClr val="ECECEC"/>
                </a:solidFill>
                <a:latin typeface="Barlow"/>
                <a:ea typeface="Barlow"/>
                <a:cs typeface="Barlow"/>
                <a:sym typeface="Barlow"/>
              </a:rPr>
              <a:t>Undetected leaks quietly cost facilities $50,000+ a year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581" y="2601201"/>
            <a:ext cx="10752334" cy="153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Industrial facilities lose $50,000+ annually to undetected leaks.</a:t>
            </a:r>
          </a:p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Facilities cannot distinguish a legitimate production increase from an actual leak, so costs compound while teams debate higher water consumption.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62581" y="4400712"/>
            <a:ext cx="5147396" cy="2575398"/>
            <a:chOff x="0" y="0"/>
            <a:chExt cx="6863194" cy="34338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63207" cy="3433826"/>
            </a:xfrm>
            <a:custGeom>
              <a:avLst/>
              <a:gdLst/>
              <a:ahLst/>
              <a:cxnLst/>
              <a:rect r="r" b="b" t="t" l="l"/>
              <a:pathLst>
                <a:path h="3433826" w="6863207">
                  <a:moveTo>
                    <a:pt x="0" y="0"/>
                  </a:moveTo>
                  <a:lnTo>
                    <a:pt x="6863207" y="0"/>
                  </a:lnTo>
                  <a:lnTo>
                    <a:pt x="6863207" y="3433826"/>
                  </a:lnTo>
                  <a:lnTo>
                    <a:pt x="0" y="3433826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67610" y="4934350"/>
            <a:ext cx="4537329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F97316"/>
                </a:solidFill>
                <a:latin typeface="Barlow Bold"/>
                <a:ea typeface="Barlow Bold"/>
                <a:cs typeface="Barlow Bold"/>
                <a:sym typeface="Barlow Bold"/>
              </a:rPr>
              <a:t>$50,000+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7610" y="6057433"/>
            <a:ext cx="4537329" cy="6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ANNUAL WASTE PER FACILITY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367520" y="4400712"/>
            <a:ext cx="5147396" cy="2575398"/>
            <a:chOff x="0" y="0"/>
            <a:chExt cx="6863194" cy="34338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3207" cy="3433826"/>
            </a:xfrm>
            <a:custGeom>
              <a:avLst/>
              <a:gdLst/>
              <a:ahLst/>
              <a:cxnLst/>
              <a:rect r="r" b="b" t="t" l="l"/>
              <a:pathLst>
                <a:path h="3433826" w="6863207">
                  <a:moveTo>
                    <a:pt x="0" y="0"/>
                  </a:moveTo>
                  <a:lnTo>
                    <a:pt x="6863207" y="0"/>
                  </a:lnTo>
                  <a:lnTo>
                    <a:pt x="6863207" y="3433826"/>
                  </a:lnTo>
                  <a:lnTo>
                    <a:pt x="0" y="3433826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72548" y="4934350"/>
            <a:ext cx="4537329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EF4444"/>
                </a:solidFill>
                <a:latin typeface="Barlow Bold"/>
                <a:ea typeface="Barlow Bold"/>
                <a:cs typeface="Barlow Bold"/>
                <a:sym typeface="Barlow Bold"/>
              </a:rPr>
              <a:t>5%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72548" y="6057433"/>
            <a:ext cx="48423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AVERAGE LEAK RATE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62581" y="7433672"/>
            <a:ext cx="5147396" cy="2575398"/>
            <a:chOff x="0" y="0"/>
            <a:chExt cx="6863194" cy="34338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63207" cy="3433826"/>
            </a:xfrm>
            <a:custGeom>
              <a:avLst/>
              <a:gdLst/>
              <a:ahLst/>
              <a:cxnLst/>
              <a:rect r="r" b="b" t="t" l="l"/>
              <a:pathLst>
                <a:path h="3433826" w="6863207">
                  <a:moveTo>
                    <a:pt x="0" y="0"/>
                  </a:moveTo>
                  <a:lnTo>
                    <a:pt x="6863207" y="0"/>
                  </a:lnTo>
                  <a:lnTo>
                    <a:pt x="6863207" y="3433826"/>
                  </a:lnTo>
                  <a:lnTo>
                    <a:pt x="0" y="3433826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67610" y="7967310"/>
            <a:ext cx="4537329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F97316"/>
                </a:solidFill>
                <a:latin typeface="Barlow Bold"/>
                <a:ea typeface="Barlow Bold"/>
                <a:cs typeface="Barlow Bold"/>
                <a:sym typeface="Barlow Bold"/>
              </a:rPr>
              <a:t>MONTHS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7610" y="9090393"/>
            <a:ext cx="48423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BEFORE DETECTION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67520" y="7433672"/>
            <a:ext cx="5147396" cy="2575398"/>
            <a:chOff x="0" y="0"/>
            <a:chExt cx="6863194" cy="34338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63207" cy="3433826"/>
            </a:xfrm>
            <a:custGeom>
              <a:avLst/>
              <a:gdLst/>
              <a:ahLst/>
              <a:cxnLst/>
              <a:rect r="r" b="b" t="t" l="l"/>
              <a:pathLst>
                <a:path h="3433826" w="6863207">
                  <a:moveTo>
                    <a:pt x="0" y="0"/>
                  </a:moveTo>
                  <a:lnTo>
                    <a:pt x="6863207" y="0"/>
                  </a:lnTo>
                  <a:lnTo>
                    <a:pt x="6863207" y="3433826"/>
                  </a:lnTo>
                  <a:lnTo>
                    <a:pt x="0" y="3433826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672548" y="7967310"/>
            <a:ext cx="4537329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EF4444"/>
                </a:solidFill>
                <a:latin typeface="Barlow Bold"/>
                <a:ea typeface="Barlow Bold"/>
                <a:cs typeface="Barlow Bold"/>
                <a:sym typeface="Barlow Bold"/>
              </a:rPr>
              <a:t>$47–$200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72548" y="9090393"/>
            <a:ext cx="48423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PER DAY LOSS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573868" y="1448933"/>
            <a:ext cx="571929" cy="571948"/>
            <a:chOff x="0" y="0"/>
            <a:chExt cx="762572" cy="762597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762635" cy="762635"/>
            </a:xfrm>
            <a:custGeom>
              <a:avLst/>
              <a:gdLst/>
              <a:ahLst/>
              <a:cxnLst/>
              <a:rect r="r" b="b" t="t" l="l"/>
              <a:pathLst>
                <a:path h="762635" w="762635">
                  <a:moveTo>
                    <a:pt x="0" y="0"/>
                  </a:moveTo>
                  <a:lnTo>
                    <a:pt x="762635" y="0"/>
                  </a:lnTo>
                  <a:lnTo>
                    <a:pt x="762635" y="762635"/>
                  </a:lnTo>
                  <a:lnTo>
                    <a:pt x="0" y="76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6" b="4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573868" y="2268741"/>
            <a:ext cx="4270429" cy="29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651" spc="16">
                <a:solidFill>
                  <a:srgbClr val="9D9D9D"/>
                </a:solidFill>
                <a:latin typeface="Exo 2"/>
                <a:ea typeface="Exo 2"/>
                <a:cs typeface="Exo 2"/>
                <a:sym typeface="Exo 2"/>
              </a:rPr>
              <a:t>UNDETECTED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573868" y="3812981"/>
            <a:ext cx="571929" cy="571948"/>
            <a:chOff x="0" y="0"/>
            <a:chExt cx="762572" cy="762597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762635" cy="762635"/>
            </a:xfrm>
            <a:custGeom>
              <a:avLst/>
              <a:gdLst/>
              <a:ahLst/>
              <a:cxnLst/>
              <a:rect r="r" b="b" t="t" l="l"/>
              <a:pathLst>
                <a:path h="762635" w="762635">
                  <a:moveTo>
                    <a:pt x="0" y="0"/>
                  </a:moveTo>
                  <a:lnTo>
                    <a:pt x="762635" y="0"/>
                  </a:lnTo>
                  <a:lnTo>
                    <a:pt x="762635" y="762635"/>
                  </a:lnTo>
                  <a:lnTo>
                    <a:pt x="0" y="76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4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573868" y="4632789"/>
            <a:ext cx="4270429" cy="29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651" spc="16">
                <a:solidFill>
                  <a:srgbClr val="9D9D9D"/>
                </a:solidFill>
                <a:latin typeface="Exo 2"/>
                <a:ea typeface="Exo 2"/>
                <a:cs typeface="Exo 2"/>
                <a:sym typeface="Exo 2"/>
              </a:rPr>
              <a:t>PRODUCTION CONTINUES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573868" y="6177029"/>
            <a:ext cx="571929" cy="571948"/>
            <a:chOff x="0" y="0"/>
            <a:chExt cx="762572" cy="762597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762635" cy="762635"/>
            </a:xfrm>
            <a:custGeom>
              <a:avLst/>
              <a:gdLst/>
              <a:ahLst/>
              <a:cxnLst/>
              <a:rect r="r" b="b" t="t" l="l"/>
              <a:pathLst>
                <a:path h="762635" w="762635">
                  <a:moveTo>
                    <a:pt x="0" y="0"/>
                  </a:moveTo>
                  <a:lnTo>
                    <a:pt x="762635" y="0"/>
                  </a:lnTo>
                  <a:lnTo>
                    <a:pt x="762635" y="762635"/>
                  </a:lnTo>
                  <a:lnTo>
                    <a:pt x="0" y="76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4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3573868" y="6996827"/>
            <a:ext cx="4270429" cy="29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651" spc="16">
                <a:solidFill>
                  <a:srgbClr val="9D9D9D"/>
                </a:solidFill>
                <a:latin typeface="Exo 2"/>
                <a:ea typeface="Exo 2"/>
                <a:cs typeface="Exo 2"/>
                <a:sym typeface="Exo 2"/>
              </a:rPr>
              <a:t>ANNUAL ACCUMULATION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573868" y="8541077"/>
            <a:ext cx="571929" cy="571948"/>
            <a:chOff x="0" y="0"/>
            <a:chExt cx="762572" cy="762597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762635" cy="762635"/>
            </a:xfrm>
            <a:custGeom>
              <a:avLst/>
              <a:gdLst/>
              <a:ahLst/>
              <a:cxnLst/>
              <a:rect r="r" b="b" t="t" l="l"/>
              <a:pathLst>
                <a:path h="762635" w="762635">
                  <a:moveTo>
                    <a:pt x="0" y="0"/>
                  </a:moveTo>
                  <a:lnTo>
                    <a:pt x="762635" y="0"/>
                  </a:lnTo>
                  <a:lnTo>
                    <a:pt x="762635" y="762635"/>
                  </a:lnTo>
                  <a:lnTo>
                    <a:pt x="0" y="76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4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3573868" y="9360875"/>
            <a:ext cx="4270429" cy="29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651" spc="16">
                <a:solidFill>
                  <a:srgbClr val="9D9D9D"/>
                </a:solidFill>
                <a:latin typeface="Exo 2"/>
                <a:ea typeface="Exo 2"/>
                <a:cs typeface="Exo 2"/>
                <a:sym typeface="Exo 2"/>
              </a:rPr>
              <a:t>REVENUE LOSS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191695" y="0"/>
            <a:ext cx="19069" cy="10295039"/>
            <a:chOff x="0" y="0"/>
            <a:chExt cx="25425" cy="137267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40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5400">
                  <a:moveTo>
                    <a:pt x="0" y="0"/>
                  </a:moveTo>
                  <a:lnTo>
                    <a:pt x="25400" y="0"/>
                  </a:lnTo>
                  <a:lnTo>
                    <a:pt x="25400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F3F3F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762629"/>
            <a:ext cx="17386744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THE ANSWER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1249604"/>
            <a:ext cx="16471659" cy="65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5254" spc="-63">
                <a:solidFill>
                  <a:srgbClr val="ECECEC"/>
                </a:solidFill>
                <a:latin typeface="Barlow"/>
                <a:ea typeface="Barlow"/>
                <a:cs typeface="Barlow"/>
                <a:sym typeface="Barlow"/>
              </a:rPr>
              <a:t>HydraSync turns raw signals into an actionable answer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5095" y="3603412"/>
            <a:ext cx="3774758" cy="3269628"/>
            <a:chOff x="0" y="0"/>
            <a:chExt cx="5033010" cy="4359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33010" cy="4359529"/>
            </a:xfrm>
            <a:custGeom>
              <a:avLst/>
              <a:gdLst/>
              <a:ahLst/>
              <a:cxnLst/>
              <a:rect r="r" b="b" t="t" l="l"/>
              <a:pathLst>
                <a:path h="4359529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4359529"/>
                  </a:lnTo>
                  <a:lnTo>
                    <a:pt x="0" y="4359529"/>
                  </a:lnTo>
                  <a:close/>
                </a:path>
              </a:pathLst>
            </a:custGeom>
            <a:solidFill>
              <a:srgbClr val="D5F3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58252" y="3984679"/>
            <a:ext cx="1206570" cy="24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01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5095" y="4346943"/>
            <a:ext cx="3774758" cy="28594"/>
            <a:chOff x="0" y="0"/>
            <a:chExt cx="5033010" cy="38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33010" cy="38100"/>
            </a:xfrm>
            <a:custGeom>
              <a:avLst/>
              <a:gdLst/>
              <a:ahLst/>
              <a:cxnLst/>
              <a:rect r="r" b="b" t="t" l="l"/>
              <a:pathLst>
                <a:path h="381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58252" y="4509030"/>
            <a:ext cx="3088434" cy="51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Multi-signal detection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52" y="5395108"/>
            <a:ext cx="3088434" cy="126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Flow + pressure + temperature, not threshold alerts.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147396" y="3603412"/>
            <a:ext cx="3774758" cy="3269628"/>
            <a:chOff x="0" y="0"/>
            <a:chExt cx="5033010" cy="43595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33010" cy="4359529"/>
            </a:xfrm>
            <a:custGeom>
              <a:avLst/>
              <a:gdLst/>
              <a:ahLst/>
              <a:cxnLst/>
              <a:rect r="r" b="b" t="t" l="l"/>
              <a:pathLst>
                <a:path h="4359529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4359529"/>
                  </a:lnTo>
                  <a:lnTo>
                    <a:pt x="0" y="4359529"/>
                  </a:lnTo>
                  <a:close/>
                </a:path>
              </a:pathLst>
            </a:custGeom>
            <a:solidFill>
              <a:srgbClr val="7DD3F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490553" y="3984679"/>
            <a:ext cx="1269425" cy="24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47396" y="4346943"/>
            <a:ext cx="3774758" cy="28594"/>
            <a:chOff x="0" y="0"/>
            <a:chExt cx="5033010" cy="381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33010" cy="38100"/>
            </a:xfrm>
            <a:custGeom>
              <a:avLst/>
              <a:gdLst/>
              <a:ahLst/>
              <a:cxnLst/>
              <a:rect r="r" b="b" t="t" l="l"/>
              <a:pathLst>
                <a:path h="381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490553" y="4509030"/>
            <a:ext cx="3088434" cy="99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Production-aware baselining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90553" y="5670204"/>
            <a:ext cx="3088434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Expected consumption per unit produced.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79696" y="3603412"/>
            <a:ext cx="3774758" cy="3269628"/>
            <a:chOff x="0" y="0"/>
            <a:chExt cx="5033010" cy="43595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33010" cy="4359529"/>
            </a:xfrm>
            <a:custGeom>
              <a:avLst/>
              <a:gdLst/>
              <a:ahLst/>
              <a:cxnLst/>
              <a:rect r="r" b="b" t="t" l="l"/>
              <a:pathLst>
                <a:path h="4359529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4359529"/>
                  </a:lnTo>
                  <a:lnTo>
                    <a:pt x="0" y="4359529"/>
                  </a:lnTo>
                  <a:close/>
                </a:path>
              </a:pathLst>
            </a:custGeom>
            <a:solidFill>
              <a:srgbClr val="07598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722853" y="3984679"/>
            <a:ext cx="1267187" cy="24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03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79696" y="4346943"/>
            <a:ext cx="3774758" cy="28594"/>
            <a:chOff x="0" y="0"/>
            <a:chExt cx="5033010" cy="381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33010" cy="38100"/>
            </a:xfrm>
            <a:custGeom>
              <a:avLst/>
              <a:gdLst/>
              <a:ahLst/>
              <a:cxnLst/>
              <a:rect r="r" b="b" t="t" l="l"/>
              <a:pathLst>
                <a:path h="381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22853" y="4509030"/>
            <a:ext cx="3088434" cy="51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Precise localization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22853" y="5192097"/>
            <a:ext cx="3088434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Identifies pipe section A, B, C, or D.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611997" y="3603412"/>
            <a:ext cx="3774758" cy="3269628"/>
            <a:chOff x="0" y="0"/>
            <a:chExt cx="5033010" cy="43595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33010" cy="4359529"/>
            </a:xfrm>
            <a:custGeom>
              <a:avLst/>
              <a:gdLst/>
              <a:ahLst/>
              <a:cxnLst/>
              <a:rect r="r" b="b" t="t" l="l"/>
              <a:pathLst>
                <a:path h="4359529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4359529"/>
                  </a:lnTo>
                  <a:lnTo>
                    <a:pt x="0" y="4359529"/>
                  </a:lnTo>
                  <a:close/>
                </a:path>
              </a:pathLst>
            </a:custGeom>
            <a:solidFill>
              <a:srgbClr val="0369A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955154" y="3984679"/>
            <a:ext cx="1275531" cy="24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04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611997" y="4346943"/>
            <a:ext cx="3774758" cy="28594"/>
            <a:chOff x="0" y="0"/>
            <a:chExt cx="5033010" cy="381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33010" cy="38100"/>
            </a:xfrm>
            <a:custGeom>
              <a:avLst/>
              <a:gdLst/>
              <a:ahLst/>
              <a:cxnLst/>
              <a:rect r="r" b="b" t="t" l="l"/>
              <a:pathLst>
                <a:path h="381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955154" y="4509030"/>
            <a:ext cx="3088434" cy="99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Financial quantification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55154" y="5670204"/>
            <a:ext cx="3088434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Daily loss + annual impact.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15095" y="7216207"/>
            <a:ext cx="4941408" cy="2354370"/>
            <a:chOff x="0" y="0"/>
            <a:chExt cx="6588544" cy="313916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88506" cy="3139186"/>
            </a:xfrm>
            <a:custGeom>
              <a:avLst/>
              <a:gdLst/>
              <a:ahLst/>
              <a:cxnLst/>
              <a:rect r="r" b="b" t="t" l="l"/>
              <a:pathLst>
                <a:path h="3139186" w="6588506">
                  <a:moveTo>
                    <a:pt x="0" y="0"/>
                  </a:moveTo>
                  <a:lnTo>
                    <a:pt x="6588506" y="0"/>
                  </a:lnTo>
                  <a:lnTo>
                    <a:pt x="6588506" y="3139186"/>
                  </a:lnTo>
                  <a:lnTo>
                    <a:pt x="0" y="3139186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34510" y="7787983"/>
            <a:ext cx="4102570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F7F7F7"/>
                </a:solidFill>
                <a:latin typeface="Barlow Bold"/>
                <a:ea typeface="Barlow Bold"/>
                <a:cs typeface="Barlow Bold"/>
                <a:sym typeface="Barlow Bold"/>
              </a:rPr>
              <a:t>5 sec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4510" y="8911066"/>
            <a:ext cx="4521994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DETECTION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856503" y="7216207"/>
            <a:ext cx="4941560" cy="2354370"/>
            <a:chOff x="0" y="0"/>
            <a:chExt cx="6588747" cy="313916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8760" cy="3139186"/>
            </a:xfrm>
            <a:custGeom>
              <a:avLst/>
              <a:gdLst/>
              <a:ahLst/>
              <a:cxnLst/>
              <a:rect r="r" b="b" t="t" l="l"/>
              <a:pathLst>
                <a:path h="3139186" w="6588760">
                  <a:moveTo>
                    <a:pt x="0" y="0"/>
                  </a:moveTo>
                  <a:lnTo>
                    <a:pt x="6588760" y="0"/>
                  </a:lnTo>
                  <a:lnTo>
                    <a:pt x="6588760" y="3139186"/>
                  </a:lnTo>
                  <a:lnTo>
                    <a:pt x="0" y="3139186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6275918" y="7787983"/>
            <a:ext cx="4102722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F7F7F7"/>
                </a:solidFill>
                <a:latin typeface="Barlow Bold"/>
                <a:ea typeface="Barlow Bold"/>
                <a:cs typeface="Barlow Bold"/>
                <a:sym typeface="Barlow Bold"/>
              </a:rPr>
              <a:t>92%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275918" y="8911066"/>
            <a:ext cx="4522137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CONFIDENCE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798054" y="7216207"/>
            <a:ext cx="6588690" cy="2354370"/>
            <a:chOff x="0" y="0"/>
            <a:chExt cx="8784920" cy="313916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84971" cy="3139186"/>
            </a:xfrm>
            <a:custGeom>
              <a:avLst/>
              <a:gdLst/>
              <a:ahLst/>
              <a:cxnLst/>
              <a:rect r="r" b="b" t="t" l="l"/>
              <a:pathLst>
                <a:path h="3139186" w="8784971">
                  <a:moveTo>
                    <a:pt x="0" y="0"/>
                  </a:moveTo>
                  <a:lnTo>
                    <a:pt x="8784971" y="0"/>
                  </a:lnTo>
                  <a:lnTo>
                    <a:pt x="8784971" y="3139186"/>
                  </a:lnTo>
                  <a:lnTo>
                    <a:pt x="0" y="3139186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217469" y="7787983"/>
            <a:ext cx="5749862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F7F7F7"/>
                </a:solidFill>
                <a:latin typeface="Barlow Bold"/>
                <a:ea typeface="Barlow Bold"/>
                <a:cs typeface="Barlow Bold"/>
                <a:sym typeface="Barlow Bold"/>
              </a:rPr>
              <a:t>$17,228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217469" y="8911066"/>
            <a:ext cx="6169276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ANNUAL SAVINGS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7114482" y="9695393"/>
            <a:ext cx="1187358" cy="284188"/>
            <a:chOff x="0" y="0"/>
            <a:chExt cx="1583144" cy="37891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83141" cy="378914"/>
            </a:xfrm>
            <a:custGeom>
              <a:avLst/>
              <a:gdLst/>
              <a:ahLst/>
              <a:cxnLst/>
              <a:rect r="r" b="b" t="t" l="l"/>
              <a:pathLst>
                <a:path h="378914" w="1583141">
                  <a:moveTo>
                    <a:pt x="0" y="0"/>
                  </a:moveTo>
                  <a:lnTo>
                    <a:pt x="1583141" y="0"/>
                  </a:lnTo>
                  <a:lnTo>
                    <a:pt x="1583141" y="378914"/>
                  </a:lnTo>
                  <a:lnTo>
                    <a:pt x="0" y="3789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0" r="0" b="-3141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583144" cy="4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76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762629"/>
            <a:ext cx="11896201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SYSTEM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1249604"/>
            <a:ext cx="11209877" cy="137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5254" spc="-63">
                <a:solidFill>
                  <a:srgbClr val="ECECEC"/>
                </a:solidFill>
                <a:latin typeface="Barlow"/>
                <a:ea typeface="Barlow"/>
                <a:cs typeface="Barlow"/>
                <a:sym typeface="Barlow"/>
              </a:rPr>
              <a:t>The system is small, real-time, and deployable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095" y="2868111"/>
            <a:ext cx="11896201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Three layers make the product legible.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095" y="3855596"/>
            <a:ext cx="11209877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95" y="4338790"/>
            <a:ext cx="11209877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React Dashboard + Tailwind CSS. MetricsCard, AlertPanel, TrendChart, PipeHeatMap. WebSocket updates with 5-second refresh and mobile responsiveness.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5095" y="5824042"/>
            <a:ext cx="11209877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BACKEND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95" y="6307236"/>
            <a:ext cx="11209877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Node.js + Express + Socket.io. DataGenerator, BaselineEngine, AnomalyDetector, FinancialCalculator. Production-ready for 100+ concurrent users.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5095" y="7792641"/>
            <a:ext cx="11209877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INFRASTRUCTURE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5095" y="8275844"/>
            <a:ext cx="11209877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Docker containerized. Single-command deployment with docker-compose up -d to AWS, Azure, DigitalOcean, or on-premise.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811287" y="0"/>
            <a:ext cx="5490553" cy="10295039"/>
            <a:chOff x="0" y="0"/>
            <a:chExt cx="7320737" cy="137267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2078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7320788">
                  <a:moveTo>
                    <a:pt x="0" y="0"/>
                  </a:moveTo>
                  <a:lnTo>
                    <a:pt x="7320788" y="0"/>
                  </a:lnTo>
                  <a:lnTo>
                    <a:pt x="732078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459482" y="3084509"/>
            <a:ext cx="48423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CREDIBILITY RAIL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59482" y="3736867"/>
            <a:ext cx="1383954" cy="47511"/>
            <a:chOff x="0" y="0"/>
            <a:chExt cx="1845272" cy="633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45183" cy="63247"/>
            </a:xfrm>
            <a:custGeom>
              <a:avLst/>
              <a:gdLst/>
              <a:ahLst/>
              <a:cxnLst/>
              <a:rect r="r" b="b" t="t" l="l"/>
              <a:pathLst>
                <a:path h="63247" w="1845183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813560" y="0"/>
                  </a:lnTo>
                  <a:cubicBezTo>
                    <a:pt x="1831086" y="0"/>
                    <a:pt x="1845183" y="14224"/>
                    <a:pt x="1845183" y="31623"/>
                  </a:cubicBezTo>
                  <a:cubicBezTo>
                    <a:pt x="1845183" y="49149"/>
                    <a:pt x="1830959" y="63246"/>
                    <a:pt x="1813560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459482" y="4072928"/>
            <a:ext cx="4194172" cy="311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No database complexity now</a:t>
            </a:r>
          </a:p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Horizontal scalability with Redis</a:t>
            </a:r>
          </a:p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Real-time WebSocket delivery</a:t>
            </a:r>
          </a:p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Open-source technology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5095" y="5547589"/>
            <a:ext cx="11209877" cy="19069"/>
            <a:chOff x="0" y="0"/>
            <a:chExt cx="14946503" cy="254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946503" cy="25400"/>
            </a:xfrm>
            <a:custGeom>
              <a:avLst/>
              <a:gdLst/>
              <a:ahLst/>
              <a:cxnLst/>
              <a:rect r="r" b="b" t="t" l="l"/>
              <a:pathLst>
                <a:path h="25400" w="14946503">
                  <a:moveTo>
                    <a:pt x="0" y="0"/>
                  </a:moveTo>
                  <a:lnTo>
                    <a:pt x="14946503" y="0"/>
                  </a:lnTo>
                  <a:lnTo>
                    <a:pt x="1494650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5095" y="7516187"/>
            <a:ext cx="11209877" cy="19069"/>
            <a:chOff x="0" y="0"/>
            <a:chExt cx="14946503" cy="254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46503" cy="25400"/>
            </a:xfrm>
            <a:custGeom>
              <a:avLst/>
              <a:gdLst/>
              <a:ahLst/>
              <a:cxnLst/>
              <a:rect r="r" b="b" t="t" l="l"/>
              <a:pathLst>
                <a:path h="25400" w="14946503">
                  <a:moveTo>
                    <a:pt x="0" y="0"/>
                  </a:moveTo>
                  <a:lnTo>
                    <a:pt x="14946503" y="0"/>
                  </a:lnTo>
                  <a:lnTo>
                    <a:pt x="1494650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801752" y="0"/>
            <a:ext cx="19069" cy="10295039"/>
            <a:chOff x="0" y="0"/>
            <a:chExt cx="25425" cy="137267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40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5400">
                  <a:moveTo>
                    <a:pt x="0" y="0"/>
                  </a:moveTo>
                  <a:lnTo>
                    <a:pt x="25400" y="0"/>
                  </a:lnTo>
                  <a:lnTo>
                    <a:pt x="25400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114482" y="9695393"/>
            <a:ext cx="1187358" cy="284188"/>
            <a:chOff x="0" y="0"/>
            <a:chExt cx="1583144" cy="3789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83141" cy="378914"/>
            </a:xfrm>
            <a:custGeom>
              <a:avLst/>
              <a:gdLst/>
              <a:ahLst/>
              <a:cxnLst/>
              <a:rect r="r" b="b" t="t" l="l"/>
              <a:pathLst>
                <a:path h="378914" w="1583141">
                  <a:moveTo>
                    <a:pt x="0" y="0"/>
                  </a:moveTo>
                  <a:lnTo>
                    <a:pt x="1583141" y="0"/>
                  </a:lnTo>
                  <a:lnTo>
                    <a:pt x="1583141" y="378914"/>
                  </a:lnTo>
                  <a:lnTo>
                    <a:pt x="0" y="3789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410" r="0" b="-314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583144" cy="4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76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724500"/>
            <a:ext cx="17386744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LIVE DETECTION · NORMAL → ALERT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1211466"/>
            <a:ext cx="16471659" cy="65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5254" spc="-63">
                <a:solidFill>
                  <a:srgbClr val="ECECEC"/>
                </a:solidFill>
                <a:latin typeface="Barlow"/>
                <a:ea typeface="Barlow"/>
                <a:cs typeface="Barlow"/>
                <a:sym typeface="Barlow"/>
              </a:rPr>
              <a:t>One normal reading becomes a localized alert in &lt; 5 seconds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5095" y="2163718"/>
            <a:ext cx="5185524" cy="5103133"/>
            <a:chOff x="0" y="0"/>
            <a:chExt cx="6914032" cy="68041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14007" cy="6804152"/>
            </a:xfrm>
            <a:custGeom>
              <a:avLst/>
              <a:gdLst/>
              <a:ahLst/>
              <a:cxnLst/>
              <a:rect r="r" b="b" t="t" l="l"/>
              <a:pathLst>
                <a:path h="6804152" w="6914007">
                  <a:moveTo>
                    <a:pt x="0" y="0"/>
                  </a:moveTo>
                  <a:lnTo>
                    <a:pt x="6914007" y="0"/>
                  </a:lnTo>
                  <a:lnTo>
                    <a:pt x="6914007" y="6804152"/>
                  </a:lnTo>
                  <a:lnTo>
                    <a:pt x="0" y="6804152"/>
                  </a:lnTo>
                  <a:close/>
                </a:path>
              </a:pathLst>
            </a:custGeom>
            <a:solidFill>
              <a:srgbClr val="0B3B2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34510" y="2564092"/>
            <a:ext cx="4346686" cy="6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BEFORE · NORMAL OPERATION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4510" y="3397015"/>
            <a:ext cx="4346686" cy="67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3"/>
              </a:lnSpc>
            </a:pPr>
            <a:r>
              <a:rPr lang="en-US" sz="3752">
                <a:solidFill>
                  <a:srgbClr val="10B981"/>
                </a:solidFill>
                <a:latin typeface="Barlow"/>
                <a:ea typeface="Barlow"/>
                <a:cs typeface="Barlow"/>
                <a:sym typeface="Barlow"/>
              </a:rPr>
              <a:t>Flow: 1245 gal/min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4510" y="4240635"/>
            <a:ext cx="4346686" cy="126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Expected: 1210</a:t>
            </a:r>
          </a:p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Variance: +2.9%</a:t>
            </a:r>
          </a:p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Daily Loss: $0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34510" y="5747023"/>
            <a:ext cx="4346686" cy="47511"/>
            <a:chOff x="0" y="0"/>
            <a:chExt cx="5795582" cy="633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95518" cy="63247"/>
            </a:xfrm>
            <a:custGeom>
              <a:avLst/>
              <a:gdLst/>
              <a:ahLst/>
              <a:cxnLst/>
              <a:rect r="r" b="b" t="t" l="l"/>
              <a:pathLst>
                <a:path h="63247" w="5795518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5763895" y="0"/>
                  </a:lnTo>
                  <a:cubicBezTo>
                    <a:pt x="5781421" y="0"/>
                    <a:pt x="5795518" y="14224"/>
                    <a:pt x="5795518" y="31623"/>
                  </a:cubicBezTo>
                  <a:cubicBezTo>
                    <a:pt x="5795518" y="49149"/>
                    <a:pt x="5781294" y="63246"/>
                    <a:pt x="5763895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34510" y="5987758"/>
            <a:ext cx="4346686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Sections A, B, C, and D are green; the trend is flat.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58163" y="2163718"/>
            <a:ext cx="5185524" cy="5103133"/>
            <a:chOff x="0" y="0"/>
            <a:chExt cx="6914032" cy="68041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14007" cy="6804152"/>
            </a:xfrm>
            <a:custGeom>
              <a:avLst/>
              <a:gdLst/>
              <a:ahLst/>
              <a:cxnLst/>
              <a:rect r="r" b="b" t="t" l="l"/>
              <a:pathLst>
                <a:path h="6804152" w="6914007">
                  <a:moveTo>
                    <a:pt x="0" y="0"/>
                  </a:moveTo>
                  <a:lnTo>
                    <a:pt x="6914007" y="0"/>
                  </a:lnTo>
                  <a:lnTo>
                    <a:pt x="6914007" y="6804152"/>
                  </a:lnTo>
                  <a:lnTo>
                    <a:pt x="0" y="6804152"/>
                  </a:lnTo>
                  <a:close/>
                </a:path>
              </a:pathLst>
            </a:custGeom>
            <a:solidFill>
              <a:srgbClr val="C2410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39448" y="4109799"/>
            <a:ext cx="4422943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F7F7F7"/>
                </a:solidFill>
                <a:latin typeface="Barlow Bold"/>
                <a:ea typeface="Barlow Bold"/>
                <a:cs typeface="Barlow Bold"/>
                <a:sym typeface="Barlow Bold"/>
              </a:rPr>
              <a:t>5 SEC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39448" y="5232883"/>
            <a:ext cx="4804229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BRIDGE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201230" y="2163718"/>
            <a:ext cx="5185524" cy="5103133"/>
            <a:chOff x="0" y="0"/>
            <a:chExt cx="6914032" cy="68041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14007" cy="6804152"/>
            </a:xfrm>
            <a:custGeom>
              <a:avLst/>
              <a:gdLst/>
              <a:ahLst/>
              <a:cxnLst/>
              <a:rect r="r" b="b" t="t" l="l"/>
              <a:pathLst>
                <a:path h="6804152" w="6914007">
                  <a:moveTo>
                    <a:pt x="0" y="0"/>
                  </a:moveTo>
                  <a:lnTo>
                    <a:pt x="6914007" y="0"/>
                  </a:lnTo>
                  <a:lnTo>
                    <a:pt x="6914007" y="6804152"/>
                  </a:lnTo>
                  <a:lnTo>
                    <a:pt x="0" y="6804152"/>
                  </a:lnTo>
                  <a:close/>
                </a:path>
              </a:pathLst>
            </a:custGeom>
            <a:solidFill>
              <a:srgbClr val="451A1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620644" y="2564092"/>
            <a:ext cx="4766100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5 SECONDS LATER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20644" y="3099721"/>
            <a:ext cx="4346686" cy="67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3"/>
              </a:lnSpc>
            </a:pPr>
            <a:r>
              <a:rPr lang="en-US" sz="3752">
                <a:solidFill>
                  <a:srgbClr val="EF4444"/>
                </a:solidFill>
                <a:latin typeface="Barlow"/>
                <a:ea typeface="Barlow"/>
                <a:cs typeface="Barlow"/>
                <a:sym typeface="Barlow"/>
              </a:rPr>
              <a:t>Flow: 1345 gal/min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20644" y="3943340"/>
            <a:ext cx="4346686" cy="126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Expected: 1210</a:t>
            </a:r>
          </a:p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Variance: +11.1%</a:t>
            </a:r>
          </a:p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Daily Loss: $47.20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620644" y="5449729"/>
            <a:ext cx="4346686" cy="47511"/>
            <a:chOff x="0" y="0"/>
            <a:chExt cx="5795582" cy="633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95518" cy="63247"/>
            </a:xfrm>
            <a:custGeom>
              <a:avLst/>
              <a:gdLst/>
              <a:ahLst/>
              <a:cxnLst/>
              <a:rect r="r" b="b" t="t" l="l"/>
              <a:pathLst>
                <a:path h="63247" w="5795518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5763895" y="0"/>
                  </a:lnTo>
                  <a:cubicBezTo>
                    <a:pt x="5781421" y="0"/>
                    <a:pt x="5795518" y="14224"/>
                    <a:pt x="5795518" y="31623"/>
                  </a:cubicBezTo>
                  <a:cubicBezTo>
                    <a:pt x="5795518" y="49149"/>
                    <a:pt x="5781294" y="63246"/>
                    <a:pt x="5763895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620644" y="5690464"/>
            <a:ext cx="4346686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Section B is red; detection is &lt; 5 seconds with 92% confidence.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4510" y="7857877"/>
            <a:ext cx="16052235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POTENTIAL LEAK DETECTED · SECTION 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4510" y="8393506"/>
            <a:ext cx="15632821" cy="67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3"/>
              </a:lnSpc>
            </a:pPr>
            <a:r>
              <a:rPr lang="en-US" sz="3752">
                <a:solidFill>
                  <a:srgbClr val="D5D5D5"/>
                </a:solidFill>
                <a:latin typeface="Barlow"/>
                <a:ea typeface="Barlow"/>
                <a:cs typeface="Barlow"/>
                <a:sym typeface="Barlow"/>
              </a:rPr>
              <a:t>Estimated loss $47.20/day · confidence 92%.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419462"/>
            <a:ext cx="17386744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WATER NETWORK MONITOR · NORMAL · LAST UPDATED 14:32:15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906428"/>
            <a:ext cx="16471659" cy="65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5254" spc="-63">
                <a:solidFill>
                  <a:srgbClr val="ECECEC"/>
                </a:solidFill>
                <a:latin typeface="Barlow"/>
                <a:ea typeface="Barlow"/>
                <a:cs typeface="Barlow"/>
                <a:sym typeface="Barlow"/>
              </a:rPr>
              <a:t>Operators see the leak, its cost, and the next action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5095" y="1858680"/>
            <a:ext cx="8007058" cy="4747603"/>
            <a:chOff x="0" y="0"/>
            <a:chExt cx="10676077" cy="63301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76128" cy="6330188"/>
            </a:xfrm>
            <a:custGeom>
              <a:avLst/>
              <a:gdLst/>
              <a:ahLst/>
              <a:cxnLst/>
              <a:rect r="r" b="b" t="t" l="l"/>
              <a:pathLst>
                <a:path h="6330188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6330188"/>
                  </a:lnTo>
                  <a:lnTo>
                    <a:pt x="0" y="6330188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81995" y="2106539"/>
            <a:ext cx="77401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PIPE HEALTH HEATMAP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81995" y="2594467"/>
            <a:ext cx="1696583" cy="1479909"/>
            <a:chOff x="0" y="0"/>
            <a:chExt cx="2262111" cy="19732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2124" cy="1973199"/>
            </a:xfrm>
            <a:custGeom>
              <a:avLst/>
              <a:gdLst/>
              <a:ahLst/>
              <a:cxnLst/>
              <a:rect r="r" b="b" t="t" l="l"/>
              <a:pathLst>
                <a:path h="1973199" w="2262124">
                  <a:moveTo>
                    <a:pt x="0" y="0"/>
                  </a:moveTo>
                  <a:lnTo>
                    <a:pt x="2262124" y="0"/>
                  </a:lnTo>
                  <a:lnTo>
                    <a:pt x="2262124" y="1973199"/>
                  </a:lnTo>
                  <a:lnTo>
                    <a:pt x="0" y="1973199"/>
                  </a:lnTo>
                  <a:close/>
                </a:path>
              </a:pathLst>
            </a:custGeom>
            <a:solidFill>
              <a:srgbClr val="04785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72638" y="2747010"/>
            <a:ext cx="1315298" cy="51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2638" y="3430076"/>
            <a:ext cx="1505941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GREEN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107350" y="2594467"/>
            <a:ext cx="1696736" cy="1479909"/>
            <a:chOff x="0" y="0"/>
            <a:chExt cx="2262314" cy="19732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62251" cy="1973199"/>
            </a:xfrm>
            <a:custGeom>
              <a:avLst/>
              <a:gdLst/>
              <a:ahLst/>
              <a:cxnLst/>
              <a:rect r="r" b="b" t="t" l="l"/>
              <a:pathLst>
                <a:path h="1973199" w="2262251">
                  <a:moveTo>
                    <a:pt x="0" y="0"/>
                  </a:moveTo>
                  <a:lnTo>
                    <a:pt x="2262251" y="0"/>
                  </a:lnTo>
                  <a:lnTo>
                    <a:pt x="2262251" y="1973199"/>
                  </a:lnTo>
                  <a:lnTo>
                    <a:pt x="0" y="1973199"/>
                  </a:lnTo>
                  <a:close/>
                </a:path>
              </a:pathLst>
            </a:custGeom>
            <a:solidFill>
              <a:srgbClr val="B91C1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297993" y="2747010"/>
            <a:ext cx="1315441" cy="51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97993" y="3430076"/>
            <a:ext cx="1506093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RED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032858" y="2594467"/>
            <a:ext cx="1696736" cy="1479909"/>
            <a:chOff x="0" y="0"/>
            <a:chExt cx="2262314" cy="19732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62251" cy="1973199"/>
            </a:xfrm>
            <a:custGeom>
              <a:avLst/>
              <a:gdLst/>
              <a:ahLst/>
              <a:cxnLst/>
              <a:rect r="r" b="b" t="t" l="l"/>
              <a:pathLst>
                <a:path h="1973199" w="2262251">
                  <a:moveTo>
                    <a:pt x="0" y="0"/>
                  </a:moveTo>
                  <a:lnTo>
                    <a:pt x="2262251" y="0"/>
                  </a:lnTo>
                  <a:lnTo>
                    <a:pt x="2262251" y="1973199"/>
                  </a:lnTo>
                  <a:lnTo>
                    <a:pt x="0" y="1973199"/>
                  </a:lnTo>
                  <a:close/>
                </a:path>
              </a:pathLst>
            </a:custGeom>
            <a:solidFill>
              <a:srgbClr val="04785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223500" y="2747010"/>
            <a:ext cx="1315441" cy="51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23500" y="3430076"/>
            <a:ext cx="1506093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GREEN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958365" y="2594467"/>
            <a:ext cx="1696736" cy="1479909"/>
            <a:chOff x="0" y="0"/>
            <a:chExt cx="2262314" cy="19732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62251" cy="1973199"/>
            </a:xfrm>
            <a:custGeom>
              <a:avLst/>
              <a:gdLst/>
              <a:ahLst/>
              <a:cxnLst/>
              <a:rect r="r" b="b" t="t" l="l"/>
              <a:pathLst>
                <a:path h="1973199" w="2262251">
                  <a:moveTo>
                    <a:pt x="0" y="0"/>
                  </a:moveTo>
                  <a:lnTo>
                    <a:pt x="2262251" y="0"/>
                  </a:lnTo>
                  <a:lnTo>
                    <a:pt x="2262251" y="1973199"/>
                  </a:lnTo>
                  <a:lnTo>
                    <a:pt x="0" y="1973199"/>
                  </a:lnTo>
                  <a:close/>
                </a:path>
              </a:pathLst>
            </a:custGeom>
            <a:solidFill>
              <a:srgbClr val="04785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149008" y="2747010"/>
            <a:ext cx="1315441" cy="51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49008" y="3430076"/>
            <a:ext cx="1506093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GREEN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1995" y="4226909"/>
            <a:ext cx="7740158" cy="29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651" spc="16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Section B · Flow: 1350 gal/min · Pressure: 72 PSI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79696" y="1858680"/>
            <a:ext cx="8007058" cy="4747603"/>
            <a:chOff x="0" y="0"/>
            <a:chExt cx="10676077" cy="63301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6128" cy="6330188"/>
            </a:xfrm>
            <a:custGeom>
              <a:avLst/>
              <a:gdLst/>
              <a:ahLst/>
              <a:cxnLst/>
              <a:rect r="r" b="b" t="t" l="l"/>
              <a:pathLst>
                <a:path h="6330188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6330188"/>
                  </a:lnTo>
                  <a:lnTo>
                    <a:pt x="0" y="6330188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46596" y="2106539"/>
            <a:ext cx="77401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FINANCIAL IMPACT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46596" y="2918384"/>
            <a:ext cx="7473248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F7F7F7"/>
                </a:solidFill>
                <a:latin typeface="Barlow Bold"/>
                <a:ea typeface="Barlow Bold"/>
                <a:cs typeface="Barlow Bold"/>
                <a:sym typeface="Barlow Bold"/>
              </a:rPr>
              <a:t>$47.20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46596" y="4041477"/>
            <a:ext cx="77401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DAILY LOSS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46596" y="4481779"/>
            <a:ext cx="7740158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$17,228 annual · MEDIUM severity.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46596" y="5176123"/>
            <a:ext cx="7473248" cy="47511"/>
            <a:chOff x="0" y="0"/>
            <a:chExt cx="9964331" cy="633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964293" cy="63247"/>
            </a:xfrm>
            <a:custGeom>
              <a:avLst/>
              <a:gdLst/>
              <a:ahLst/>
              <a:cxnLst/>
              <a:rect r="r" b="b" t="t" l="l"/>
              <a:pathLst>
                <a:path h="63247" w="9964293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9932670" y="0"/>
                  </a:lnTo>
                  <a:cubicBezTo>
                    <a:pt x="9950196" y="0"/>
                    <a:pt x="9964293" y="14224"/>
                    <a:pt x="9964293" y="31623"/>
                  </a:cubicBezTo>
                  <a:cubicBezTo>
                    <a:pt x="9964293" y="49149"/>
                    <a:pt x="9950069" y="63246"/>
                    <a:pt x="9932670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646596" y="5445423"/>
            <a:ext cx="77401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NEXT ACTION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46596" y="5885726"/>
            <a:ext cx="7740158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Inspect Section B.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15095" y="7063845"/>
            <a:ext cx="8007058" cy="2760240"/>
            <a:chOff x="0" y="0"/>
            <a:chExt cx="10676077" cy="3680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76128" cy="3680333"/>
            </a:xfrm>
            <a:custGeom>
              <a:avLst/>
              <a:gdLst/>
              <a:ahLst/>
              <a:cxnLst/>
              <a:rect r="r" b="b" t="t" l="l"/>
              <a:pathLst>
                <a:path h="3680333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3680333"/>
                  </a:lnTo>
                  <a:lnTo>
                    <a:pt x="0" y="3680333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81995" y="7311695"/>
            <a:ext cx="77401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FLOW TREND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1995" y="7751997"/>
            <a:ext cx="7740158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Mostly flat with a red spike at the end.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81995" y="8377238"/>
            <a:ext cx="1311726" cy="711060"/>
            <a:chOff x="0" y="0"/>
            <a:chExt cx="1748968" cy="948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48917" cy="948055"/>
            </a:xfrm>
            <a:custGeom>
              <a:avLst/>
              <a:gdLst/>
              <a:ahLst/>
              <a:cxnLst/>
              <a:rect r="r" b="b" t="t" l="l"/>
              <a:pathLst>
                <a:path h="948055" w="1748917">
                  <a:moveTo>
                    <a:pt x="0" y="0"/>
                  </a:moveTo>
                  <a:lnTo>
                    <a:pt x="1748917" y="0"/>
                  </a:lnTo>
                  <a:lnTo>
                    <a:pt x="1748917" y="948055"/>
                  </a:lnTo>
                  <a:lnTo>
                    <a:pt x="0" y="948055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722340" y="8377238"/>
            <a:ext cx="1311726" cy="711060"/>
            <a:chOff x="0" y="0"/>
            <a:chExt cx="1748968" cy="948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48917" cy="948055"/>
            </a:xfrm>
            <a:custGeom>
              <a:avLst/>
              <a:gdLst/>
              <a:ahLst/>
              <a:cxnLst/>
              <a:rect r="r" b="b" t="t" l="l"/>
              <a:pathLst>
                <a:path h="948055" w="1748917">
                  <a:moveTo>
                    <a:pt x="0" y="0"/>
                  </a:moveTo>
                  <a:lnTo>
                    <a:pt x="1748917" y="0"/>
                  </a:lnTo>
                  <a:lnTo>
                    <a:pt x="1748917" y="948055"/>
                  </a:lnTo>
                  <a:lnTo>
                    <a:pt x="0" y="948055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262685" y="8377238"/>
            <a:ext cx="1311726" cy="711060"/>
            <a:chOff x="0" y="0"/>
            <a:chExt cx="1748968" cy="948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48917" cy="948055"/>
            </a:xfrm>
            <a:custGeom>
              <a:avLst/>
              <a:gdLst/>
              <a:ahLst/>
              <a:cxnLst/>
              <a:rect r="r" b="b" t="t" l="l"/>
              <a:pathLst>
                <a:path h="948055" w="1748917">
                  <a:moveTo>
                    <a:pt x="0" y="0"/>
                  </a:moveTo>
                  <a:lnTo>
                    <a:pt x="1748917" y="0"/>
                  </a:lnTo>
                  <a:lnTo>
                    <a:pt x="1748917" y="948055"/>
                  </a:lnTo>
                  <a:lnTo>
                    <a:pt x="0" y="948055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803030" y="8377238"/>
            <a:ext cx="1311726" cy="711060"/>
            <a:chOff x="0" y="0"/>
            <a:chExt cx="1748968" cy="948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48917" cy="948055"/>
            </a:xfrm>
            <a:custGeom>
              <a:avLst/>
              <a:gdLst/>
              <a:ahLst/>
              <a:cxnLst/>
              <a:rect r="r" b="b" t="t" l="l"/>
              <a:pathLst>
                <a:path h="948055" w="1748917">
                  <a:moveTo>
                    <a:pt x="0" y="0"/>
                  </a:moveTo>
                  <a:lnTo>
                    <a:pt x="1748917" y="0"/>
                  </a:lnTo>
                  <a:lnTo>
                    <a:pt x="1748917" y="948055"/>
                  </a:lnTo>
                  <a:lnTo>
                    <a:pt x="0" y="948055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343375" y="8377238"/>
            <a:ext cx="1311726" cy="711060"/>
            <a:chOff x="0" y="0"/>
            <a:chExt cx="1748968" cy="948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48917" cy="948055"/>
            </a:xfrm>
            <a:custGeom>
              <a:avLst/>
              <a:gdLst/>
              <a:ahLst/>
              <a:cxnLst/>
              <a:rect r="r" b="b" t="t" l="l"/>
              <a:pathLst>
                <a:path h="948055" w="1748917">
                  <a:moveTo>
                    <a:pt x="0" y="0"/>
                  </a:moveTo>
                  <a:lnTo>
                    <a:pt x="1748917" y="0"/>
                  </a:lnTo>
                  <a:lnTo>
                    <a:pt x="1748917" y="948055"/>
                  </a:lnTo>
                  <a:lnTo>
                    <a:pt x="0" y="948055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181995" y="9240831"/>
            <a:ext cx="77401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ANOMALY DETECTED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379696" y="7063845"/>
            <a:ext cx="8007058" cy="2760240"/>
            <a:chOff x="0" y="0"/>
            <a:chExt cx="10676077" cy="3680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76128" cy="3680333"/>
            </a:xfrm>
            <a:custGeom>
              <a:avLst/>
              <a:gdLst/>
              <a:ahLst/>
              <a:cxnLst/>
              <a:rect r="r" b="b" t="t" l="l"/>
              <a:pathLst>
                <a:path h="3680333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3680333"/>
                  </a:lnTo>
                  <a:lnTo>
                    <a:pt x="0" y="3680333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9646596" y="7311695"/>
            <a:ext cx="7740158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ACTIVE ALERTS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646596" y="7751997"/>
            <a:ext cx="7473248" cy="93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Potential Leak - Section B | Loss: $47/day</a:t>
            </a:r>
          </a:p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Pressure Drop - Section B | 80→72 PSI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7114482" y="9695393"/>
            <a:ext cx="1187358" cy="284188"/>
            <a:chOff x="0" y="0"/>
            <a:chExt cx="1583144" cy="37891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83141" cy="378914"/>
            </a:xfrm>
            <a:custGeom>
              <a:avLst/>
              <a:gdLst/>
              <a:ahLst/>
              <a:cxnLst/>
              <a:rect r="r" b="b" t="t" l="l"/>
              <a:pathLst>
                <a:path h="378914" w="1583141">
                  <a:moveTo>
                    <a:pt x="0" y="0"/>
                  </a:moveTo>
                  <a:lnTo>
                    <a:pt x="1583141" y="0"/>
                  </a:lnTo>
                  <a:lnTo>
                    <a:pt x="1583141" y="378914"/>
                  </a:lnTo>
                  <a:lnTo>
                    <a:pt x="0" y="3789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0" r="0" b="-3141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583144" cy="4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76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724500"/>
            <a:ext cx="17386744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FACILITY ECONOMICS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1211466"/>
            <a:ext cx="16471659" cy="65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5254" spc="-63">
                <a:solidFill>
                  <a:srgbClr val="ECECEC"/>
                </a:solidFill>
                <a:latin typeface="Barlow"/>
                <a:ea typeface="Barlow"/>
                <a:cs typeface="Barlow"/>
                <a:sym typeface="Barlow"/>
              </a:rPr>
              <a:t>$17,228 annual savings per facility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5095" y="2163718"/>
            <a:ext cx="5185524" cy="3509581"/>
            <a:chOff x="0" y="0"/>
            <a:chExt cx="6914032" cy="46794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14007" cy="4679442"/>
            </a:xfrm>
            <a:custGeom>
              <a:avLst/>
              <a:gdLst/>
              <a:ahLst/>
              <a:cxnLst/>
              <a:rect r="r" b="b" t="t" l="l"/>
              <a:pathLst>
                <a:path h="4679442" w="6914007">
                  <a:moveTo>
                    <a:pt x="0" y="0"/>
                  </a:moveTo>
                  <a:lnTo>
                    <a:pt x="6914007" y="0"/>
                  </a:lnTo>
                  <a:lnTo>
                    <a:pt x="6914007" y="4679442"/>
                  </a:lnTo>
                  <a:lnTo>
                    <a:pt x="0" y="4679442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96381" y="2525963"/>
            <a:ext cx="4804229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THE LEAK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6381" y="3337817"/>
            <a:ext cx="4422943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F7F7F7"/>
                </a:solidFill>
                <a:latin typeface="Barlow Bold"/>
                <a:ea typeface="Barlow Bold"/>
                <a:cs typeface="Barlow Bold"/>
                <a:sym typeface="Barlow Bold"/>
              </a:rPr>
              <a:t>100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6381" y="4432325"/>
            <a:ext cx="4422943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gal/min continuous leak; typical small pipe burst.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58163" y="2163718"/>
            <a:ext cx="5185524" cy="3509581"/>
            <a:chOff x="0" y="0"/>
            <a:chExt cx="6914032" cy="46794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14007" cy="4679442"/>
            </a:xfrm>
            <a:custGeom>
              <a:avLst/>
              <a:gdLst/>
              <a:ahLst/>
              <a:cxnLst/>
              <a:rect r="r" b="b" t="t" l="l"/>
              <a:pathLst>
                <a:path h="4679442" w="6914007">
                  <a:moveTo>
                    <a:pt x="0" y="0"/>
                  </a:moveTo>
                  <a:lnTo>
                    <a:pt x="6914007" y="0"/>
                  </a:lnTo>
                  <a:lnTo>
                    <a:pt x="6914007" y="4679442"/>
                  </a:lnTo>
                  <a:lnTo>
                    <a:pt x="0" y="4679442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939448" y="2525963"/>
            <a:ext cx="4804229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THE COST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39448" y="3337817"/>
            <a:ext cx="4422943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F7F7F7"/>
                </a:solidFill>
                <a:latin typeface="Barlow Bold"/>
                <a:ea typeface="Barlow Bold"/>
                <a:cs typeface="Barlow Bold"/>
                <a:sym typeface="Barlow Bold"/>
              </a:rPr>
              <a:t>$47.20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39448" y="4432325"/>
            <a:ext cx="4422943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daily · $1,410 monthly · $17,228 yearly.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201230" y="2163718"/>
            <a:ext cx="5185524" cy="3509581"/>
            <a:chOff x="0" y="0"/>
            <a:chExt cx="6914032" cy="46794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14007" cy="4679442"/>
            </a:xfrm>
            <a:custGeom>
              <a:avLst/>
              <a:gdLst/>
              <a:ahLst/>
              <a:cxnLst/>
              <a:rect r="r" b="b" t="t" l="l"/>
              <a:pathLst>
                <a:path h="4679442" w="6914007">
                  <a:moveTo>
                    <a:pt x="0" y="0"/>
                  </a:moveTo>
                  <a:lnTo>
                    <a:pt x="6914007" y="0"/>
                  </a:lnTo>
                  <a:lnTo>
                    <a:pt x="6914007" y="4679442"/>
                  </a:lnTo>
                  <a:lnTo>
                    <a:pt x="0" y="4679442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582515" y="2525963"/>
            <a:ext cx="4804229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THE SOLUTION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2515" y="3337817"/>
            <a:ext cx="4422943" cy="84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b="true" sz="9007" spc="-360">
                <a:solidFill>
                  <a:srgbClr val="F7F7F7"/>
                </a:solidFill>
                <a:latin typeface="Barlow Bold"/>
                <a:ea typeface="Barlow Bold"/>
                <a:cs typeface="Barlow Bold"/>
                <a:sym typeface="Barlow Bold"/>
              </a:rPr>
              <a:t>$5,000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2515" y="4432325"/>
            <a:ext cx="4804229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one-time system cost.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6381" y="8003696"/>
            <a:ext cx="3736629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PAYBACK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6381" y="8539324"/>
            <a:ext cx="3355334" cy="67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3"/>
              </a:lnSpc>
            </a:pPr>
            <a:r>
              <a:rPr lang="en-US" sz="3752">
                <a:solidFill>
                  <a:srgbClr val="D5D5D5"/>
                </a:solidFill>
                <a:latin typeface="Barlow"/>
                <a:ea typeface="Barlow"/>
                <a:cs typeface="Barlow"/>
                <a:sym typeface="Barlow"/>
              </a:rPr>
              <a:t>3–4 months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14296" y="8003696"/>
            <a:ext cx="3736629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5-YEAR ROI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14296" y="8539324"/>
            <a:ext cx="3355334" cy="67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3"/>
              </a:lnSpc>
            </a:pPr>
            <a:r>
              <a:rPr lang="en-US" sz="3752">
                <a:solidFill>
                  <a:srgbClr val="D5D5D5"/>
                </a:solidFill>
                <a:latin typeface="Barlow"/>
                <a:ea typeface="Barlow"/>
                <a:cs typeface="Barlow"/>
                <a:sym typeface="Barlow"/>
              </a:rPr>
              <a:t>$81,640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32210" y="8003696"/>
            <a:ext cx="7854544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TRANSPARENT MODEL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32210" y="8443998"/>
            <a:ext cx="7473248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System Cost $5,000 · Annual Savings $17,228 · Payback 3–4 months · 5-Year Total Savings $81,640.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7114482" y="9695393"/>
            <a:ext cx="1187358" cy="284188"/>
            <a:chOff x="0" y="0"/>
            <a:chExt cx="1583144" cy="3789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83141" cy="378914"/>
            </a:xfrm>
            <a:custGeom>
              <a:avLst/>
              <a:gdLst/>
              <a:ahLst/>
              <a:cxnLst/>
              <a:rect r="r" b="b" t="t" l="l"/>
              <a:pathLst>
                <a:path h="378914" w="1583141">
                  <a:moveTo>
                    <a:pt x="0" y="0"/>
                  </a:moveTo>
                  <a:lnTo>
                    <a:pt x="1583141" y="0"/>
                  </a:lnTo>
                  <a:lnTo>
                    <a:pt x="1583141" y="378914"/>
                  </a:lnTo>
                  <a:lnTo>
                    <a:pt x="0" y="3789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0" r="0" b="-314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583144" cy="4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76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495719"/>
            <a:ext cx="17386744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PROTOTYPE VALIDATION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982694"/>
            <a:ext cx="16471659" cy="65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5254" spc="-63">
                <a:solidFill>
                  <a:srgbClr val="ECECEC"/>
                </a:solidFill>
                <a:latin typeface="Barlow"/>
                <a:ea typeface="Barlow"/>
                <a:cs typeface="Barlow"/>
                <a:sym typeface="Barlow"/>
              </a:rPr>
              <a:t>The prototype clears the trust hurdle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5095" y="1934937"/>
            <a:ext cx="5338039" cy="2416473"/>
            <a:chOff x="0" y="0"/>
            <a:chExt cx="7117385" cy="32219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7334" cy="3221990"/>
            </a:xfrm>
            <a:custGeom>
              <a:avLst/>
              <a:gdLst/>
              <a:ahLst/>
              <a:cxnLst/>
              <a:rect r="r" b="b" t="t" l="l"/>
              <a:pathLst>
                <a:path h="3221990" w="7117334">
                  <a:moveTo>
                    <a:pt x="0" y="0"/>
                  </a:moveTo>
                  <a:lnTo>
                    <a:pt x="7117334" y="0"/>
                  </a:lnTo>
                  <a:lnTo>
                    <a:pt x="7117334" y="3221990"/>
                  </a:lnTo>
                  <a:lnTo>
                    <a:pt x="0" y="3221990"/>
                  </a:lnTo>
                  <a:close/>
                </a:path>
              </a:pathLst>
            </a:custGeom>
            <a:solidFill>
              <a:srgbClr val="0B3B2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20124" y="2335168"/>
            <a:ext cx="4727972" cy="61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b="true" sz="6605" spc="-264">
                <a:solidFill>
                  <a:srgbClr val="10B981"/>
                </a:solidFill>
                <a:latin typeface="Barlow Bold"/>
                <a:ea typeface="Barlow Bold"/>
                <a:cs typeface="Barlow Bold"/>
                <a:sym typeface="Barlow Bold"/>
              </a:rPr>
              <a:t>100%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0124" y="3228689"/>
            <a:ext cx="5033010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DETECTION RATE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0124" y="3668982"/>
            <a:ext cx="5033010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10/10 test leaks caught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81905" y="1934937"/>
            <a:ext cx="5338039" cy="2416473"/>
            <a:chOff x="0" y="0"/>
            <a:chExt cx="7117385" cy="32219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7334" cy="3221990"/>
            </a:xfrm>
            <a:custGeom>
              <a:avLst/>
              <a:gdLst/>
              <a:ahLst/>
              <a:cxnLst/>
              <a:rect r="r" b="b" t="t" l="l"/>
              <a:pathLst>
                <a:path h="3221990" w="7117334">
                  <a:moveTo>
                    <a:pt x="0" y="0"/>
                  </a:moveTo>
                  <a:lnTo>
                    <a:pt x="7117334" y="0"/>
                  </a:lnTo>
                  <a:lnTo>
                    <a:pt x="7117334" y="3221990"/>
                  </a:lnTo>
                  <a:lnTo>
                    <a:pt x="0" y="3221990"/>
                  </a:lnTo>
                  <a:close/>
                </a:path>
              </a:pathLst>
            </a:custGeom>
            <a:solidFill>
              <a:srgbClr val="0B3B2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86934" y="2335168"/>
            <a:ext cx="4727972" cy="61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b="true" sz="6605" spc="-264">
                <a:solidFill>
                  <a:srgbClr val="10B981"/>
                </a:solidFill>
                <a:latin typeface="Barlow Bold"/>
                <a:ea typeface="Barlow Bold"/>
                <a:cs typeface="Barlow Bold"/>
                <a:sym typeface="Barlow Bold"/>
              </a:rPr>
              <a:t>&lt; 5 sec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86934" y="3228689"/>
            <a:ext cx="5033010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DETECTION LATENCY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86934" y="3668982"/>
            <a:ext cx="5033010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Alert appears instantly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48715" y="1934937"/>
            <a:ext cx="5338039" cy="2416473"/>
            <a:chOff x="0" y="0"/>
            <a:chExt cx="7117385" cy="32219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7334" cy="3221990"/>
            </a:xfrm>
            <a:custGeom>
              <a:avLst/>
              <a:gdLst/>
              <a:ahLst/>
              <a:cxnLst/>
              <a:rect r="r" b="b" t="t" l="l"/>
              <a:pathLst>
                <a:path h="3221990" w="7117334">
                  <a:moveTo>
                    <a:pt x="0" y="0"/>
                  </a:moveTo>
                  <a:lnTo>
                    <a:pt x="7117334" y="0"/>
                  </a:lnTo>
                  <a:lnTo>
                    <a:pt x="7117334" y="3221990"/>
                  </a:lnTo>
                  <a:lnTo>
                    <a:pt x="0" y="3221990"/>
                  </a:lnTo>
                  <a:close/>
                </a:path>
              </a:pathLst>
            </a:custGeom>
            <a:solidFill>
              <a:srgbClr val="0B3B2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53744" y="2335168"/>
            <a:ext cx="4727972" cy="61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b="true" sz="6605" spc="-264">
                <a:solidFill>
                  <a:srgbClr val="10B981"/>
                </a:solidFill>
                <a:latin typeface="Barlow Bold"/>
                <a:ea typeface="Barlow Bold"/>
                <a:cs typeface="Barlow Bold"/>
                <a:sym typeface="Barlow Bold"/>
              </a:rPr>
              <a:t>92%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53744" y="3228689"/>
            <a:ext cx="5033010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AVERAGE CONFIDENCE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53744" y="3668982"/>
            <a:ext cx="5033010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Minimal false positives</a:t>
            </a:r>
          </a:p>
        </p:txBody>
      </p: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915092" y="4542062"/>
          <a:ext cx="16453004" cy="3488876"/>
        </p:xfrm>
        <a:graphic>
          <a:graphicData uri="http://schemas.openxmlformats.org/drawingml/2006/table">
            <a:tbl>
              <a:tblPr/>
              <a:tblGrid>
                <a:gridCol w="7680596"/>
                <a:gridCol w="8772408"/>
              </a:tblGrid>
              <a:tr h="4048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spc="189">
                          <a:solidFill>
                            <a:srgbClr val="DADADA"/>
                          </a:solidFill>
                          <a:latin typeface="Michroma"/>
                          <a:ea typeface="Michroma"/>
                          <a:cs typeface="Michroma"/>
                          <a:sym typeface="Michroma"/>
                        </a:rPr>
                        <a:t>VALIDATION CHECKLIST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spc="189">
                          <a:solidFill>
                            <a:srgbClr val="DADADA"/>
                          </a:solidFill>
                          <a:latin typeface="Michroma"/>
                          <a:ea typeface="Michroma"/>
                          <a:cs typeface="Michroma"/>
                          <a:sym typeface="Michroma"/>
                        </a:rPr>
                        <a:t>TARGET OR RESULT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154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False positive rate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&lt; 1 per 30 days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154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Location accuracy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100%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154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Cost calculation accuracy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±2%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154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Responsive range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375px–2560px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154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Concurrent users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100+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67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WebSocket latency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&lt; 100ms</a:t>
                      </a:r>
                      <a:endParaRPr lang="en-US" sz="1100"/>
                    </a:p>
                  </a:txBody>
                  <a:tcPr marL="126997" marR="126997" marT="126997" marB="126997" anchor="ctr">
                    <a:lnL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grpSp>
        <p:nvGrpSpPr>
          <p:cNvPr name="Group 24" id="24"/>
          <p:cNvGrpSpPr/>
          <p:nvPr/>
        </p:nvGrpSpPr>
        <p:grpSpPr>
          <a:xfrm rot="0">
            <a:off x="17114482" y="9695393"/>
            <a:ext cx="1187358" cy="284188"/>
            <a:chOff x="0" y="0"/>
            <a:chExt cx="1583144" cy="3789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83141" cy="378914"/>
            </a:xfrm>
            <a:custGeom>
              <a:avLst/>
              <a:gdLst/>
              <a:ahLst/>
              <a:cxnLst/>
              <a:rect r="r" b="b" t="t" l="l"/>
              <a:pathLst>
                <a:path h="378914" w="1583141">
                  <a:moveTo>
                    <a:pt x="0" y="0"/>
                  </a:moveTo>
                  <a:lnTo>
                    <a:pt x="1583141" y="0"/>
                  </a:lnTo>
                  <a:lnTo>
                    <a:pt x="1583141" y="378914"/>
                  </a:lnTo>
                  <a:lnTo>
                    <a:pt x="0" y="3789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0" r="0" b="-3141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583144" cy="4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76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95" y="724500"/>
            <a:ext cx="11896201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SCALE PATH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1211466"/>
            <a:ext cx="11209877" cy="137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5254" spc="-63">
                <a:solidFill>
                  <a:srgbClr val="ECECEC"/>
                </a:solidFill>
                <a:latin typeface="Barlow"/>
                <a:ea typeface="Barlow"/>
                <a:cs typeface="Barlow"/>
                <a:sym typeface="Barlow"/>
              </a:rPr>
              <a:t>From one facility to an industrial water network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98584" y="2849013"/>
            <a:ext cx="42891" cy="7241086"/>
            <a:chOff x="0" y="0"/>
            <a:chExt cx="57188" cy="96547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9654794"/>
            </a:xfrm>
            <a:custGeom>
              <a:avLst/>
              <a:gdLst/>
              <a:ahLst/>
              <a:cxnLst/>
              <a:rect r="r" b="b" t="t" l="l"/>
              <a:pathLst>
                <a:path h="9654794" w="57150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34290" y="0"/>
                  </a:lnTo>
                  <a:cubicBezTo>
                    <a:pt x="46990" y="0"/>
                    <a:pt x="57150" y="10287"/>
                    <a:pt x="57150" y="22860"/>
                  </a:cubicBezTo>
                  <a:lnTo>
                    <a:pt x="57150" y="9631934"/>
                  </a:lnTo>
                  <a:cubicBezTo>
                    <a:pt x="57150" y="9644507"/>
                    <a:pt x="46863" y="9654794"/>
                    <a:pt x="34290" y="9654794"/>
                  </a:cubicBezTo>
                  <a:lnTo>
                    <a:pt x="22860" y="9654794"/>
                  </a:lnTo>
                  <a:cubicBezTo>
                    <a:pt x="10287" y="9654794"/>
                    <a:pt x="0" y="9644507"/>
                    <a:pt x="0" y="963193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90996" y="3149279"/>
            <a:ext cx="571929" cy="42901"/>
            <a:chOff x="0" y="0"/>
            <a:chExt cx="762572" cy="572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508" cy="57150"/>
            </a:xfrm>
            <a:custGeom>
              <a:avLst/>
              <a:gdLst/>
              <a:ahLst/>
              <a:cxnLst/>
              <a:rect r="r" b="b" t="t" l="l"/>
              <a:pathLst>
                <a:path h="57150" w="762508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739648" y="0"/>
                  </a:lnTo>
                  <a:cubicBezTo>
                    <a:pt x="752221" y="0"/>
                    <a:pt x="762508" y="10287"/>
                    <a:pt x="762508" y="22860"/>
                  </a:cubicBezTo>
                  <a:lnTo>
                    <a:pt x="762508" y="34290"/>
                  </a:lnTo>
                  <a:cubicBezTo>
                    <a:pt x="762508" y="46863"/>
                    <a:pt x="752221" y="57150"/>
                    <a:pt x="739648" y="57150"/>
                  </a:cubicBezTo>
                  <a:lnTo>
                    <a:pt x="22860" y="57150"/>
                  </a:lnTo>
                  <a:cubicBezTo>
                    <a:pt x="10287" y="57150"/>
                    <a:pt x="0" y="46990"/>
                    <a:pt x="0" y="342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12792" y="3063488"/>
            <a:ext cx="214474" cy="214484"/>
            <a:chOff x="0" y="0"/>
            <a:chExt cx="285966" cy="2859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6004" cy="286004"/>
            </a:xfrm>
            <a:custGeom>
              <a:avLst/>
              <a:gdLst/>
              <a:ahLst/>
              <a:cxnLst/>
              <a:rect r="r" b="b" t="t" l="l"/>
              <a:pathLst>
                <a:path h="286004" w="286004">
                  <a:moveTo>
                    <a:pt x="0" y="143002"/>
                  </a:moveTo>
                  <a:cubicBezTo>
                    <a:pt x="0" y="64008"/>
                    <a:pt x="64008" y="0"/>
                    <a:pt x="143002" y="0"/>
                  </a:cubicBezTo>
                  <a:cubicBezTo>
                    <a:pt x="221996" y="0"/>
                    <a:pt x="286004" y="64008"/>
                    <a:pt x="286004" y="143002"/>
                  </a:cubicBezTo>
                  <a:cubicBezTo>
                    <a:pt x="286004" y="221996"/>
                    <a:pt x="221996" y="286004"/>
                    <a:pt x="143002" y="286004"/>
                  </a:cubicBezTo>
                  <a:cubicBezTo>
                    <a:pt x="64008" y="286004"/>
                    <a:pt x="0" y="221996"/>
                    <a:pt x="0" y="143002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5095" y="2929471"/>
            <a:ext cx="4461072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NOW · TODAY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5095" y="3392672"/>
            <a:ext cx="4461072" cy="6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SINGLE FACILITY MONITORING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5095" y="4130269"/>
            <a:ext cx="4461072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Real-time dashboard, live demo ready.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77133" y="4865122"/>
            <a:ext cx="571929" cy="42901"/>
            <a:chOff x="0" y="0"/>
            <a:chExt cx="762572" cy="572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2508" cy="57150"/>
            </a:xfrm>
            <a:custGeom>
              <a:avLst/>
              <a:gdLst/>
              <a:ahLst/>
              <a:cxnLst/>
              <a:rect r="r" b="b" t="t" l="l"/>
              <a:pathLst>
                <a:path h="57150" w="762508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739648" y="0"/>
                  </a:lnTo>
                  <a:cubicBezTo>
                    <a:pt x="752221" y="0"/>
                    <a:pt x="762508" y="10287"/>
                    <a:pt x="762508" y="22860"/>
                  </a:cubicBezTo>
                  <a:lnTo>
                    <a:pt x="762508" y="34290"/>
                  </a:lnTo>
                  <a:cubicBezTo>
                    <a:pt x="762508" y="46863"/>
                    <a:pt x="752221" y="57150"/>
                    <a:pt x="739648" y="57150"/>
                  </a:cubicBezTo>
                  <a:lnTo>
                    <a:pt x="22860" y="57150"/>
                  </a:lnTo>
                  <a:cubicBezTo>
                    <a:pt x="10287" y="57150"/>
                    <a:pt x="0" y="46990"/>
                    <a:pt x="0" y="342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412792" y="4779331"/>
            <a:ext cx="214474" cy="214484"/>
            <a:chOff x="0" y="0"/>
            <a:chExt cx="285966" cy="2859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6004" cy="286004"/>
            </a:xfrm>
            <a:custGeom>
              <a:avLst/>
              <a:gdLst/>
              <a:ahLst/>
              <a:cxnLst/>
              <a:rect r="r" b="b" t="t" l="l"/>
              <a:pathLst>
                <a:path h="286004" w="286004">
                  <a:moveTo>
                    <a:pt x="0" y="143002"/>
                  </a:moveTo>
                  <a:cubicBezTo>
                    <a:pt x="0" y="64008"/>
                    <a:pt x="64008" y="0"/>
                    <a:pt x="143002" y="0"/>
                  </a:cubicBezTo>
                  <a:cubicBezTo>
                    <a:pt x="221996" y="0"/>
                    <a:pt x="286004" y="64008"/>
                    <a:pt x="286004" y="143002"/>
                  </a:cubicBezTo>
                  <a:cubicBezTo>
                    <a:pt x="286004" y="221996"/>
                    <a:pt x="221996" y="286004"/>
                    <a:pt x="143002" y="286004"/>
                  </a:cubicBezTo>
                  <a:cubicBezTo>
                    <a:pt x="64008" y="286004"/>
                    <a:pt x="0" y="221996"/>
                    <a:pt x="0" y="143002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663891" y="4645314"/>
            <a:ext cx="4461072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MONTH 1 · DEPLOYMENT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63891" y="5108515"/>
            <a:ext cx="4461072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OPERATIONAL REACH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63891" y="5548817"/>
            <a:ext cx="4461072" cy="126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Email/SMS alerts, user authentication, historical database.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990996" y="6354270"/>
            <a:ext cx="571929" cy="42901"/>
            <a:chOff x="0" y="0"/>
            <a:chExt cx="762572" cy="572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2508" cy="57150"/>
            </a:xfrm>
            <a:custGeom>
              <a:avLst/>
              <a:gdLst/>
              <a:ahLst/>
              <a:cxnLst/>
              <a:rect r="r" b="b" t="t" l="l"/>
              <a:pathLst>
                <a:path h="57150" w="762508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739648" y="0"/>
                  </a:lnTo>
                  <a:cubicBezTo>
                    <a:pt x="752221" y="0"/>
                    <a:pt x="762508" y="10287"/>
                    <a:pt x="762508" y="22860"/>
                  </a:cubicBezTo>
                  <a:lnTo>
                    <a:pt x="762508" y="34290"/>
                  </a:lnTo>
                  <a:cubicBezTo>
                    <a:pt x="762508" y="46863"/>
                    <a:pt x="752221" y="57150"/>
                    <a:pt x="739648" y="57150"/>
                  </a:cubicBezTo>
                  <a:lnTo>
                    <a:pt x="22860" y="57150"/>
                  </a:lnTo>
                  <a:cubicBezTo>
                    <a:pt x="10287" y="57150"/>
                    <a:pt x="0" y="46990"/>
                    <a:pt x="0" y="342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12792" y="6268479"/>
            <a:ext cx="214474" cy="214484"/>
            <a:chOff x="0" y="0"/>
            <a:chExt cx="285966" cy="2859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004" cy="286004"/>
            </a:xfrm>
            <a:custGeom>
              <a:avLst/>
              <a:gdLst/>
              <a:ahLst/>
              <a:cxnLst/>
              <a:rect r="r" b="b" t="t" l="l"/>
              <a:pathLst>
                <a:path h="286004" w="286004">
                  <a:moveTo>
                    <a:pt x="0" y="143002"/>
                  </a:moveTo>
                  <a:cubicBezTo>
                    <a:pt x="0" y="64008"/>
                    <a:pt x="64008" y="0"/>
                    <a:pt x="143002" y="0"/>
                  </a:cubicBezTo>
                  <a:cubicBezTo>
                    <a:pt x="221996" y="0"/>
                    <a:pt x="286004" y="64008"/>
                    <a:pt x="286004" y="143002"/>
                  </a:cubicBezTo>
                  <a:cubicBezTo>
                    <a:pt x="286004" y="221996"/>
                    <a:pt x="221996" y="286004"/>
                    <a:pt x="143002" y="286004"/>
                  </a:cubicBezTo>
                  <a:cubicBezTo>
                    <a:pt x="64008" y="286004"/>
                    <a:pt x="0" y="221996"/>
                    <a:pt x="0" y="143002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15095" y="6134452"/>
            <a:ext cx="4461072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MONTH 3 · INTELLIGENCE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5095" y="6597663"/>
            <a:ext cx="4461072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PREDICTIVE LAYER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5095" y="7037965"/>
            <a:ext cx="4461072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ML model training, predictive maintenance, mobile app.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477133" y="7843418"/>
            <a:ext cx="571929" cy="42901"/>
            <a:chOff x="0" y="0"/>
            <a:chExt cx="762572" cy="572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2508" cy="57150"/>
            </a:xfrm>
            <a:custGeom>
              <a:avLst/>
              <a:gdLst/>
              <a:ahLst/>
              <a:cxnLst/>
              <a:rect r="r" b="b" t="t" l="l"/>
              <a:pathLst>
                <a:path h="57150" w="762508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739648" y="0"/>
                  </a:lnTo>
                  <a:cubicBezTo>
                    <a:pt x="752221" y="0"/>
                    <a:pt x="762508" y="10287"/>
                    <a:pt x="762508" y="22860"/>
                  </a:cubicBezTo>
                  <a:lnTo>
                    <a:pt x="762508" y="34290"/>
                  </a:lnTo>
                  <a:cubicBezTo>
                    <a:pt x="762508" y="46863"/>
                    <a:pt x="752221" y="57150"/>
                    <a:pt x="739648" y="57150"/>
                  </a:cubicBezTo>
                  <a:lnTo>
                    <a:pt x="22860" y="57150"/>
                  </a:lnTo>
                  <a:cubicBezTo>
                    <a:pt x="10287" y="57150"/>
                    <a:pt x="0" y="46990"/>
                    <a:pt x="0" y="342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12792" y="7757627"/>
            <a:ext cx="214474" cy="214484"/>
            <a:chOff x="0" y="0"/>
            <a:chExt cx="285966" cy="28597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6004" cy="286004"/>
            </a:xfrm>
            <a:custGeom>
              <a:avLst/>
              <a:gdLst/>
              <a:ahLst/>
              <a:cxnLst/>
              <a:rect r="r" b="b" t="t" l="l"/>
              <a:pathLst>
                <a:path h="286004" w="286004">
                  <a:moveTo>
                    <a:pt x="0" y="143002"/>
                  </a:moveTo>
                  <a:cubicBezTo>
                    <a:pt x="0" y="64008"/>
                    <a:pt x="64008" y="0"/>
                    <a:pt x="143002" y="0"/>
                  </a:cubicBezTo>
                  <a:cubicBezTo>
                    <a:pt x="221996" y="0"/>
                    <a:pt x="286004" y="64008"/>
                    <a:pt x="286004" y="143002"/>
                  </a:cubicBezTo>
                  <a:cubicBezTo>
                    <a:pt x="286004" y="221996"/>
                    <a:pt x="221996" y="286004"/>
                    <a:pt x="143002" y="286004"/>
                  </a:cubicBezTo>
                  <a:cubicBezTo>
                    <a:pt x="64008" y="286004"/>
                    <a:pt x="0" y="221996"/>
                    <a:pt x="0" y="143002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663891" y="7623600"/>
            <a:ext cx="4461072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YEAR 1 · SCALE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63891" y="8086811"/>
            <a:ext cx="4461072" cy="6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D5D5D5"/>
                </a:solidFill>
                <a:latin typeface="Michroma"/>
                <a:ea typeface="Michroma"/>
                <a:cs typeface="Michroma"/>
                <a:sym typeface="Michroma"/>
              </a:rPr>
              <a:t>NETWORK MANAGEMENT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663891" y="8824398"/>
            <a:ext cx="4461072" cy="126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Multi-facility management, SCADA integration, enterprise SLA support.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811287" y="0"/>
            <a:ext cx="5490553" cy="10356999"/>
            <a:chOff x="0" y="0"/>
            <a:chExt cx="7320737" cy="138093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20788" cy="13809345"/>
            </a:xfrm>
            <a:custGeom>
              <a:avLst/>
              <a:gdLst/>
              <a:ahLst/>
              <a:cxnLst/>
              <a:rect r="r" b="b" t="t" l="l"/>
              <a:pathLst>
                <a:path h="13809345" w="7320788">
                  <a:moveTo>
                    <a:pt x="0" y="0"/>
                  </a:moveTo>
                  <a:lnTo>
                    <a:pt x="7320788" y="0"/>
                  </a:lnTo>
                  <a:lnTo>
                    <a:pt x="7320788" y="13809345"/>
                  </a:lnTo>
                  <a:lnTo>
                    <a:pt x="0" y="13809345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3497611" y="743550"/>
            <a:ext cx="4804229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WHY IT SCALES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497611" y="1395908"/>
            <a:ext cx="1358636" cy="47511"/>
            <a:chOff x="0" y="0"/>
            <a:chExt cx="1811515" cy="633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11528" cy="63247"/>
            </a:xfrm>
            <a:custGeom>
              <a:avLst/>
              <a:gdLst/>
              <a:ahLst/>
              <a:cxnLst/>
              <a:rect r="r" b="b" t="t" l="l"/>
              <a:pathLst>
                <a:path h="63247" w="1811528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779905" y="0"/>
                  </a:lnTo>
                  <a:cubicBezTo>
                    <a:pt x="1797431" y="0"/>
                    <a:pt x="1811528" y="14224"/>
                    <a:pt x="1811528" y="31623"/>
                  </a:cubicBezTo>
                  <a:cubicBezTo>
                    <a:pt x="1811528" y="49149"/>
                    <a:pt x="1797304" y="63246"/>
                    <a:pt x="1779905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3497611" y="1731969"/>
            <a:ext cx="4117915" cy="2712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Docker deployment</a:t>
            </a:r>
          </a:p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Redis-ready horizontal scaling</a:t>
            </a:r>
          </a:p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Database-ready architecture</a:t>
            </a:r>
          </a:p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Open APIs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97611" y="8418376"/>
            <a:ext cx="4117915" cy="167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From detecting leaks in one facility to managing water networks across entire industries.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801752" y="0"/>
            <a:ext cx="19069" cy="10356999"/>
            <a:chOff x="0" y="0"/>
            <a:chExt cx="25425" cy="138093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400" cy="13809345"/>
            </a:xfrm>
            <a:custGeom>
              <a:avLst/>
              <a:gdLst/>
              <a:ahLst/>
              <a:cxnLst/>
              <a:rect r="r" b="b" t="t" l="l"/>
              <a:pathLst>
                <a:path h="13809345" w="25400">
                  <a:moveTo>
                    <a:pt x="0" y="0"/>
                  </a:moveTo>
                  <a:lnTo>
                    <a:pt x="25400" y="0"/>
                  </a:lnTo>
                  <a:lnTo>
                    <a:pt x="25400" y="13809345"/>
                  </a:lnTo>
                  <a:lnTo>
                    <a:pt x="0" y="13809345"/>
                  </a:ln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7114482" y="9695393"/>
            <a:ext cx="1187358" cy="284188"/>
            <a:chOff x="0" y="0"/>
            <a:chExt cx="1583144" cy="37891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83141" cy="378914"/>
            </a:xfrm>
            <a:custGeom>
              <a:avLst/>
              <a:gdLst/>
              <a:ahLst/>
              <a:cxnLst/>
              <a:rect r="r" b="b" t="t" l="l"/>
              <a:pathLst>
                <a:path h="378914" w="1583141">
                  <a:moveTo>
                    <a:pt x="0" y="0"/>
                  </a:moveTo>
                  <a:lnTo>
                    <a:pt x="1583141" y="0"/>
                  </a:lnTo>
                  <a:lnTo>
                    <a:pt x="1583141" y="378914"/>
                  </a:lnTo>
                  <a:lnTo>
                    <a:pt x="0" y="3789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410" r="0" b="-3141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583144" cy="426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76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1352" y="800757"/>
            <a:ext cx="17234230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HYDRASYNC · THE DECISION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1352" y="1544907"/>
            <a:ext cx="16319144" cy="269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02"/>
              </a:lnSpc>
            </a:pPr>
            <a:r>
              <a:rPr lang="en-US" b="true" sz="12609" spc="-504">
                <a:solidFill>
                  <a:srgbClr val="ECECEC"/>
                </a:solidFill>
                <a:latin typeface="Barlow Bold"/>
                <a:ea typeface="Barlow Bold"/>
                <a:cs typeface="Barlow Bold"/>
                <a:sym typeface="Barlow Bold"/>
              </a:rPr>
              <a:t>TURN WATER WASTE</a:t>
            </a:r>
          </a:p>
          <a:p>
            <a:pPr algn="l">
              <a:lnSpc>
                <a:spcPts val="11802"/>
              </a:lnSpc>
            </a:pPr>
            <a:r>
              <a:rPr lang="en-US" b="true" sz="12609" spc="-504">
                <a:solidFill>
                  <a:srgbClr val="ECECEC"/>
                </a:solidFill>
                <a:latin typeface="Barlow Bold"/>
                <a:ea typeface="Barlow Bold"/>
                <a:cs typeface="Barlow Bold"/>
                <a:sym typeface="Barlow Bold"/>
              </a:rPr>
              <a:t>INTO WATER WISDOM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1352" y="4605661"/>
            <a:ext cx="4079634" cy="47511"/>
            <a:chOff x="0" y="0"/>
            <a:chExt cx="5439512" cy="633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39410" cy="63247"/>
            </a:xfrm>
            <a:custGeom>
              <a:avLst/>
              <a:gdLst/>
              <a:ahLst/>
              <a:cxnLst/>
              <a:rect r="r" b="b" t="t" l="l"/>
              <a:pathLst>
                <a:path h="63247" w="5439410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5407787" y="0"/>
                  </a:lnTo>
                  <a:cubicBezTo>
                    <a:pt x="5425313" y="0"/>
                    <a:pt x="5439410" y="14224"/>
                    <a:pt x="5439410" y="31623"/>
                  </a:cubicBezTo>
                  <a:cubicBezTo>
                    <a:pt x="5439410" y="49149"/>
                    <a:pt x="5425186" y="63246"/>
                    <a:pt x="5407787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1352" y="4989347"/>
            <a:ext cx="5134585" cy="2373278"/>
            <a:chOff x="0" y="0"/>
            <a:chExt cx="6846113" cy="31643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46062" cy="3164332"/>
            </a:xfrm>
            <a:custGeom>
              <a:avLst/>
              <a:gdLst/>
              <a:ahLst/>
              <a:cxnLst/>
              <a:rect r="r" b="b" t="t" l="l"/>
              <a:pathLst>
                <a:path h="3164332" w="6846062">
                  <a:moveTo>
                    <a:pt x="0" y="0"/>
                  </a:moveTo>
                  <a:lnTo>
                    <a:pt x="6846062" y="0"/>
                  </a:lnTo>
                  <a:lnTo>
                    <a:pt x="6846062" y="3164332"/>
                  </a:lnTo>
                  <a:lnTo>
                    <a:pt x="0" y="3164332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72638" y="5313464"/>
            <a:ext cx="4753299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THE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2638" y="5753767"/>
            <a:ext cx="4372004" cy="85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Facilities lose $50K+ annually to undetected leaks.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83480" y="4989347"/>
            <a:ext cx="5134737" cy="2373278"/>
            <a:chOff x="0" y="0"/>
            <a:chExt cx="6846316" cy="31643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46316" cy="3164332"/>
            </a:xfrm>
            <a:custGeom>
              <a:avLst/>
              <a:gdLst/>
              <a:ahLst/>
              <a:cxnLst/>
              <a:rect r="r" b="b" t="t" l="l"/>
              <a:pathLst>
                <a:path h="3164332" w="6846316">
                  <a:moveTo>
                    <a:pt x="0" y="0"/>
                  </a:moveTo>
                  <a:lnTo>
                    <a:pt x="6846316" y="0"/>
                  </a:lnTo>
                  <a:lnTo>
                    <a:pt x="6846316" y="3164332"/>
                  </a:lnTo>
                  <a:lnTo>
                    <a:pt x="0" y="3164332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964766" y="5313464"/>
            <a:ext cx="4753442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THE 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64766" y="5753767"/>
            <a:ext cx="4372156" cy="126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Multi-signal AI detects leaks in 5 seconds and pinpoints the exact location with 92% confidence.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75760" y="4989347"/>
            <a:ext cx="5134585" cy="2373278"/>
            <a:chOff x="0" y="0"/>
            <a:chExt cx="6846113" cy="31643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46062" cy="3164332"/>
            </a:xfrm>
            <a:custGeom>
              <a:avLst/>
              <a:gdLst/>
              <a:ahLst/>
              <a:cxnLst/>
              <a:rect r="r" b="b" t="t" l="l"/>
              <a:pathLst>
                <a:path h="3164332" w="6846062">
                  <a:moveTo>
                    <a:pt x="0" y="0"/>
                  </a:moveTo>
                  <a:lnTo>
                    <a:pt x="6846062" y="0"/>
                  </a:lnTo>
                  <a:lnTo>
                    <a:pt x="6846062" y="3164332"/>
                  </a:lnTo>
                  <a:lnTo>
                    <a:pt x="0" y="3164332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557046" y="5313464"/>
            <a:ext cx="4753299" cy="31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801" spc="288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THE IMPACT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7046" y="5753767"/>
            <a:ext cx="4372004" cy="126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$17,228 annual savings per facility, 3–4 month payback, immediate Docker deployment.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1352" y="8433864"/>
            <a:ext cx="16319144" cy="51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D5D5D5"/>
                </a:solidFill>
                <a:latin typeface="Barlow"/>
                <a:ea typeface="Barlow"/>
                <a:cs typeface="Barlow"/>
                <a:sym typeface="Barlow"/>
              </a:rPr>
              <a:t>Every hour a leak goes undetected, a facility bleeds money. HydraSync stops the bleeding in seconds.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1352" y="9116930"/>
            <a:ext cx="17234230" cy="45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Let’s build the future of water intelligence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DAHVh7Q5ifw</dc:identifier>
  <dcterms:modified xsi:type="dcterms:W3CDTF">2011-08-01T06:04:30Z</dcterms:modified>
  <cp:revision>1</cp:revision>
  <dc:title>HydraSync-stops-industrial-water-loss-in-seconds.pptx</dc:title>
</cp:coreProperties>
</file>